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9" r:id="rId1"/>
    <p:sldMasterId id="2147483661" r:id="rId2"/>
  </p:sldMasterIdLst>
  <p:notesMasterIdLst>
    <p:notesMasterId r:id="rId13"/>
  </p:notesMasterIdLst>
  <p:sldIdLst>
    <p:sldId id="761" r:id="rId3"/>
    <p:sldId id="764" r:id="rId4"/>
    <p:sldId id="776" r:id="rId5"/>
    <p:sldId id="778" r:id="rId6"/>
    <p:sldId id="779" r:id="rId7"/>
    <p:sldId id="781" r:id="rId8"/>
    <p:sldId id="782" r:id="rId9"/>
    <p:sldId id="783" r:id="rId10"/>
    <p:sldId id="780" r:id="rId11"/>
    <p:sldId id="784" r:id="rId12"/>
  </p:sldIdLst>
  <p:sldSz cx="12192000" cy="6858000"/>
  <p:notesSz cx="6858000" cy="9144000"/>
  <p:embeddedFontLst>
    <p:embeddedFont>
      <p:font typeface="Cambria Math" panose="02040503050406030204" pitchFamily="18" charset="0"/>
      <p:regular r:id="rId14"/>
    </p:embeddedFont>
    <p:embeddedFont>
      <p:font typeface="Helvetica" pitchFamily="2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00DE"/>
    <a:srgbClr val="504EEE"/>
    <a:srgbClr val="92D051"/>
    <a:srgbClr val="FF3F3F"/>
    <a:srgbClr val="FFD3D2"/>
    <a:srgbClr val="70CBFF"/>
    <a:srgbClr val="00276B"/>
    <a:srgbClr val="5642DE"/>
    <a:srgbClr val="4C2FDE"/>
    <a:srgbClr val="B96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768"/>
    <p:restoredTop sz="82227" autoAdjust="0"/>
  </p:normalViewPr>
  <p:slideViewPr>
    <p:cSldViewPr>
      <p:cViewPr varScale="1">
        <p:scale>
          <a:sx n="102" d="100"/>
          <a:sy n="102" d="100"/>
        </p:scale>
        <p:origin x="256" y="184"/>
      </p:cViewPr>
      <p:guideLst/>
    </p:cSldViewPr>
  </p:slideViewPr>
  <p:outlineViewPr>
    <p:cViewPr>
      <p:scale>
        <a:sx n="65" d="100"/>
        <a:sy n="6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12"/>
    </p:cViewPr>
  </p:sorterViewPr>
  <p:notesViewPr>
    <p:cSldViewPr>
      <p:cViewPr varScale="1">
        <p:scale>
          <a:sx n="110" d="100"/>
          <a:sy n="110" d="100"/>
        </p:scale>
        <p:origin x="3592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6A2F8971-D5C2-D34F-BB0A-B8D89FED486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5F0C8E9E-54AF-2F4F-8D7A-3BABA83BD89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929CE654-1904-1744-B6FE-9EA711284BC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43F9C194-A137-D348-A963-1C3E1A3E840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EFEC94FA-11B3-AF4C-A035-332FD0B5997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491F83C2-A2F5-EC48-873B-4875A62837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FD82A15-5316-CA4D-88E5-5ADED07BD17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800" kern="1200" dirty="0">
              <a:effectLst/>
              <a:latin typeface="Arial" pitchFamily="34" charset="0"/>
              <a:ea typeface="ＭＳ Ｐゴシック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82A15-5316-CA4D-88E5-5ADED07BD175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6462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>
            <a:extLst>
              <a:ext uri="{FF2B5EF4-FFF2-40B4-BE49-F238E27FC236}">
                <a16:creationId xmlns:a16="http://schemas.microsoft.com/office/drawing/2014/main" id="{BB2C93D0-DE27-4446-8A87-21880388B0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7970" name="Rectangle 2">
            <a:extLst>
              <a:ext uri="{FF2B5EF4-FFF2-40B4-BE49-F238E27FC236}">
                <a16:creationId xmlns:a16="http://schemas.microsoft.com/office/drawing/2014/main" id="{9B5EAE8D-05DF-6F42-A5B3-7BFB1CA93B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en-US" sz="1400" kern="1200" dirty="0">
              <a:effectLst/>
              <a:latin typeface="Arial" pitchFamily="34" charset="0"/>
              <a:ea typeface="ＭＳ Ｐゴシック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596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6EB18-B1E1-B511-24BF-33CEC9C6B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>
            <a:extLst>
              <a:ext uri="{FF2B5EF4-FFF2-40B4-BE49-F238E27FC236}">
                <a16:creationId xmlns:a16="http://schemas.microsoft.com/office/drawing/2014/main" id="{76E2475F-620B-75D0-3111-4AC46FB512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7970" name="Rectangle 2">
            <a:extLst>
              <a:ext uri="{FF2B5EF4-FFF2-40B4-BE49-F238E27FC236}">
                <a16:creationId xmlns:a16="http://schemas.microsoft.com/office/drawing/2014/main" id="{ACB5A3E3-8BF9-91C9-26FC-89BCC1FE69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en-US" sz="1400" kern="1200" dirty="0">
              <a:effectLst/>
              <a:latin typeface="Arial" pitchFamily="34" charset="0"/>
              <a:ea typeface="ＭＳ Ｐゴシック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307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3AC34-CEF3-1DB6-9F4D-1B4B706D6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>
            <a:extLst>
              <a:ext uri="{FF2B5EF4-FFF2-40B4-BE49-F238E27FC236}">
                <a16:creationId xmlns:a16="http://schemas.microsoft.com/office/drawing/2014/main" id="{CDFF9EB5-F8D2-FAAD-FA48-AFE8739E6B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7970" name="Rectangle 2">
            <a:extLst>
              <a:ext uri="{FF2B5EF4-FFF2-40B4-BE49-F238E27FC236}">
                <a16:creationId xmlns:a16="http://schemas.microsoft.com/office/drawing/2014/main" id="{AD293B6A-DB44-83BF-D3B4-5E10CED71E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en-US" sz="1400" kern="1200" dirty="0">
              <a:effectLst/>
              <a:latin typeface="Arial" pitchFamily="34" charset="0"/>
              <a:ea typeface="ＭＳ Ｐゴシック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3657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91052-44EF-E39E-CE04-208BA280F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>
            <a:extLst>
              <a:ext uri="{FF2B5EF4-FFF2-40B4-BE49-F238E27FC236}">
                <a16:creationId xmlns:a16="http://schemas.microsoft.com/office/drawing/2014/main" id="{0D76440C-5EA0-EC82-5B9E-4EBEF3DAC1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7970" name="Rectangle 2">
            <a:extLst>
              <a:ext uri="{FF2B5EF4-FFF2-40B4-BE49-F238E27FC236}">
                <a16:creationId xmlns:a16="http://schemas.microsoft.com/office/drawing/2014/main" id="{B8D6CCD1-E35F-574A-9B3F-3216D3C392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en-US" sz="1400" kern="1200" dirty="0">
              <a:effectLst/>
              <a:latin typeface="Arial" pitchFamily="34" charset="0"/>
              <a:ea typeface="ＭＳ Ｐゴシック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467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8405C-97FF-DCF5-5FFC-B415507FD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>
            <a:extLst>
              <a:ext uri="{FF2B5EF4-FFF2-40B4-BE49-F238E27FC236}">
                <a16:creationId xmlns:a16="http://schemas.microsoft.com/office/drawing/2014/main" id="{4B90B7F0-0E6F-6C1F-24CB-60241B7D96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7970" name="Rectangle 2">
            <a:extLst>
              <a:ext uri="{FF2B5EF4-FFF2-40B4-BE49-F238E27FC236}">
                <a16:creationId xmlns:a16="http://schemas.microsoft.com/office/drawing/2014/main" id="{C752F2A0-F6B5-251C-C160-6A4D80DFC3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en-US" sz="1400" kern="1200" dirty="0">
              <a:effectLst/>
              <a:latin typeface="Arial" pitchFamily="34" charset="0"/>
              <a:ea typeface="ＭＳ Ｐゴシック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5951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4D85A-F2BD-F931-E062-40F8628ED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>
            <a:extLst>
              <a:ext uri="{FF2B5EF4-FFF2-40B4-BE49-F238E27FC236}">
                <a16:creationId xmlns:a16="http://schemas.microsoft.com/office/drawing/2014/main" id="{CD1F4FBF-3366-611B-9A9C-90723E155B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7970" name="Rectangle 2">
            <a:extLst>
              <a:ext uri="{FF2B5EF4-FFF2-40B4-BE49-F238E27FC236}">
                <a16:creationId xmlns:a16="http://schemas.microsoft.com/office/drawing/2014/main" id="{0BDBBD36-A25C-B451-9B95-C7BFAD1C2B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en-US" sz="1400" kern="1200" dirty="0">
              <a:effectLst/>
              <a:latin typeface="Arial" pitchFamily="34" charset="0"/>
              <a:ea typeface="ＭＳ Ｐゴシック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806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340E3-04C7-573D-96BA-B59BA77E3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>
            <a:extLst>
              <a:ext uri="{FF2B5EF4-FFF2-40B4-BE49-F238E27FC236}">
                <a16:creationId xmlns:a16="http://schemas.microsoft.com/office/drawing/2014/main" id="{94465F67-8B69-747A-9202-AC901598B8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7970" name="Rectangle 2">
            <a:extLst>
              <a:ext uri="{FF2B5EF4-FFF2-40B4-BE49-F238E27FC236}">
                <a16:creationId xmlns:a16="http://schemas.microsoft.com/office/drawing/2014/main" id="{5EDD1AC0-42F4-ED0F-E9B5-54D4AD2210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en-US" sz="1400" kern="1200" dirty="0">
              <a:effectLst/>
              <a:latin typeface="Arial" pitchFamily="34" charset="0"/>
              <a:ea typeface="ＭＳ Ｐゴシック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4359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E8ED8-14F9-AC93-7978-4FB2A6162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>
            <a:extLst>
              <a:ext uri="{FF2B5EF4-FFF2-40B4-BE49-F238E27FC236}">
                <a16:creationId xmlns:a16="http://schemas.microsoft.com/office/drawing/2014/main" id="{4A3A81A7-BB6E-7CDE-8461-DC664501D8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7970" name="Rectangle 2">
            <a:extLst>
              <a:ext uri="{FF2B5EF4-FFF2-40B4-BE49-F238E27FC236}">
                <a16:creationId xmlns:a16="http://schemas.microsoft.com/office/drawing/2014/main" id="{9A994CDE-37E8-4B9F-FABE-0144854AB9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en-US" sz="1400" kern="1200" dirty="0">
              <a:effectLst/>
              <a:latin typeface="Arial" pitchFamily="34" charset="0"/>
              <a:ea typeface="ＭＳ Ｐゴシック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3590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82A15-5316-CA4D-88E5-5ADED07BD175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9692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51F3392-47D6-AF4C-806E-07207B7F09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83C7445-C6C6-D046-9A52-629C01FBEA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62BCFD4-1A06-B949-B602-A3205BF180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2ACEFD-D5E9-734E-A94F-E1674F11EB4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161252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476804E-FEE2-8F4E-998B-30D0D09721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0E6BC7B-1ADB-0240-AA67-BDD092A458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C8C2C63-A16A-3E4D-B6F4-C3E8223DA6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710000-2E9C-ED4A-A83F-14377B30785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7136246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39E4131-2EEB-2F4A-B88D-9BC94EAB40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294CE0-941C-8541-A447-B440066DB5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E16E40-9036-7047-8F84-A9F643D83A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9E4A74-84FB-854C-80A0-6291320574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985975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8ED6AA-3B58-2144-9BF2-9B92DDF793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D11ED7-A4B8-5C46-AECD-00A39F0586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15F34B-DDF8-0243-86FF-572D417F62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1AA517-2816-9A46-9723-BC8DCB004B8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376500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6368DE9-8B52-C046-A832-F3CEA131A0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0513978-E6C8-C848-A6A3-15B7CABA8C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0333B75-7531-594B-BC79-25C52C5FCB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FCAC9E-1684-CC42-9FE6-CEA123C4181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4617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677D676-6D39-9140-A622-BE4876EE3E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D4E9A3F-E31C-0C44-8D43-DDCD3D8DE3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A6D51DC-F9EE-7148-9F5C-364F6E6AAB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CCB8AC-DB62-0E4D-A340-CCDC9AFE305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777877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5D3E1E5-A28D-3845-B5FF-715CF27074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68B0DD5-2FE8-414B-8DCC-999F8394F7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0EC89CA-C7E0-9B4B-BA85-98335C5221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D96FD2-720F-2C49-BC09-17B4F845E5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1739130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F54D6B-F70D-1F45-A014-95AEFF304C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1CDDEB-2C7F-B04A-A39B-CD9F5AD773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D4B4B0-3911-BE47-A183-2259E1E99C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654B55-ECF2-9547-9461-D9B58727DCD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65593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D5A13E-0449-BB42-AB07-EBEA08DA86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8A9723-A3F3-4D41-9564-CC5628F614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AB891D-7EAE-7B42-83D7-07DA1850D2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F88564-C0DE-3841-9F74-DD429DF1BE8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280679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E526AA5-7DF5-144C-95F0-6D0CD79A62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463E398-FF33-4B41-843C-48794DD1A1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9375764-4F61-7B4A-A1FD-5260904ACE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5D569C-34A0-B940-8B9D-F844EA9C3B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362419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51D24FA-7716-B842-B518-6DB71E6860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18D01A9-AE90-374F-A7D6-18214C977C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B8AAC42-97A3-144E-BFE9-7B5477D49B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B56FF4-C5E5-B141-B054-7745AB42DF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7809035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058A5-A5D3-2C09-BA88-D9B5DDF092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8B6F37-4A34-8DCC-82F3-9674C092A7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B56A8-47D7-F550-7A05-C9ACECB4E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BC9C8-D4D0-ED42-9E4C-CAE9664594A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0776B-164B-B742-75F4-66482647D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7236A-5DA5-CA58-D637-2FCEB982F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EC5F-29B5-F548-A31A-171F4463F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4870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93E70-CEA2-E4CD-1055-4B2BFAB7E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475FD-BD92-CB82-69AE-6FB5DBE7E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FD03E-FA1D-1233-4831-E6B9C88FB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BC9C8-D4D0-ED42-9E4C-CAE9664594A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6B01C-3121-4BA8-F02E-3F6C24A3C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6C513-7CF5-DDBC-EA63-D54F8FA4B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EC5F-29B5-F548-A31A-171F4463F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7163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8C075-D89E-76C2-65E6-0343B3D10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56EAE-BB60-E5C5-5A80-BF8D5E664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940D9-41AB-CB61-2943-3D46C0929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BC9C8-D4D0-ED42-9E4C-CAE9664594A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0D829-BDEF-45A5-EAA3-76A7E2C5B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46F63-468A-54B3-D7E7-097819031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EC5F-29B5-F548-A31A-171F4463F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625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7DBAC-F6B0-801E-6096-14C7DE1AE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AED06-0DBB-EE7E-4C04-FAEA945DB8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A02625-FB70-4C30-815A-3A5A44F2D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72ECA2-6D4C-AF20-E64A-037D48139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BC9C8-D4D0-ED42-9E4C-CAE9664594A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E6F3F-C847-7B9B-2B4F-412E69F07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D3072-B5DE-D4BE-6F7C-E610566FA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EC5F-29B5-F548-A31A-171F4463F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3617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ADEB3-CC65-4726-CE1E-003485893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B8203A-DF75-90DD-1335-B70CD85EB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3BF0E0-1853-72C4-B03B-B4617778E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FA10A9-5919-4073-522B-F0DF3E7CA3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64C18E-8AA2-1767-2AA5-FF125427C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4E7ECD-8061-320D-3D33-3DE9D3FC7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BC9C8-D4D0-ED42-9E4C-CAE9664594A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C0D7F3-462B-EF8E-2117-03FEEF200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9179CB-069D-BD5D-5359-6450A0EEE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EC5F-29B5-F548-A31A-171F4463F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4892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D369E-86EF-6F08-698E-C5540363B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E7707F-9D41-5A1B-5DDB-7C3572A1A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BC9C8-D4D0-ED42-9E4C-CAE9664594A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734A9B-D5FA-6500-DB29-30888C28D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3FAF17-8C64-F3EB-5E0F-606C9952C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EC5F-29B5-F548-A31A-171F4463F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215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30A1E7-DF49-43DA-7E75-EE5371A8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BC9C8-D4D0-ED42-9E4C-CAE9664594A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E391C6-7267-202E-F025-849F2C547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791B9-1866-6C36-3682-9B3FD0B0F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EC5F-29B5-F548-A31A-171F4463F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25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9183C-B427-8C16-6B70-F65AD52CB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528E2-48C5-FD09-2AD5-1491F95A8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1F664B-6530-8FBA-5746-042111275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0B202C-7253-A457-874F-B6B069540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BC9C8-D4D0-ED42-9E4C-CAE9664594A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94ADB-1A16-DB7F-B3AA-80583624D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541825-6EA1-7142-5EC2-F1D096713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EC5F-29B5-F548-A31A-171F4463F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7635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C1A15-5BDF-9AF4-4428-CC2B0A201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AB675B-EBB4-AA3A-1492-D015E36267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80DF7F-F0E4-B1EF-0DA1-0893C4D08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DBEB0C-F037-47F1-8400-8D47DA4AC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BC9C8-D4D0-ED42-9E4C-CAE9664594A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5B88A9-9E59-DD0C-F084-B3A8960E7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7B07BB-0F1D-1668-89CB-76A9833DA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EC5F-29B5-F548-A31A-171F4463F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23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ED633-8362-C274-E592-94A9296CC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0A290E-FD9D-4372-0509-C4F4CBFFD1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084AB-2D09-90DD-F215-C5354CAC6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BC9C8-D4D0-ED42-9E4C-CAE9664594A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F3819-8AEF-02BD-68B7-5C15A2CFB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A27DA-54D7-3353-DB08-F7799D5A4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EC5F-29B5-F548-A31A-171F4463F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6698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3AF7DC-5132-9816-54DB-7C11B266F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94F817-BB22-4B72-E3D2-1027D96AE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73042-8D82-B582-4D6D-682BC6BD2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BC9C8-D4D0-ED42-9E4C-CAE9664594A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3A2FC-1836-90B6-A16E-047396AE9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63AC9-958E-D11A-A9C3-80ED954CC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EC5F-29B5-F548-A31A-171F4463F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530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4920928-5954-C649-BFEA-6B208CB69D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9724DF9-AC99-7D41-8883-8C1918222E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79062D90-8DBA-A24F-9CAC-BA91EF3E669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400">
                <a:latin typeface="Times New Roman" pitchFamily="18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318A850D-9475-0E44-AF36-16A03335054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400">
                <a:latin typeface="Times New Roman" pitchFamily="18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4009E7B9-E0D7-7F4C-8B47-F3C902CCCB5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8392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28BE369-B0FC-FE45-BFB3-F1D5203C4AA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+mj-lt"/>
          <a:ea typeface="ＭＳ Ｐゴシック" charset="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itchFamily="34" charset="0"/>
          <a:ea typeface="ＭＳ Ｐゴシック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itchFamily="34" charset="0"/>
          <a:ea typeface="ＭＳ Ｐゴシック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itchFamily="34" charset="0"/>
          <a:ea typeface="ＭＳ Ｐゴシック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itchFamily="34" charset="0"/>
          <a:ea typeface="ＭＳ Ｐゴシック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07EF84-E011-17BC-4C21-BD25178C4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3CB20-5DDD-A43C-DD4A-010CB8848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0BD72-33FE-8B4A-1894-914E29EC6B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2BC9C8-D4D0-ED42-9E4C-CAE9664594A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47DDA-733D-4F47-1547-F57D2FC4EE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447E2-6BD3-9BA8-10B0-B46E9AD054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61EC5F-29B5-F548-A31A-171F4463F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20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image" Target="../media/image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C9B320-CECD-F82D-7C3D-F51B768D15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9ACA247-9021-1344-ADCC-56CAF81A97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326036"/>
            <a:ext cx="1219200" cy="1396787"/>
          </a:xfrm>
          <a:prstGeom prst="rect">
            <a:avLst/>
          </a:prstGeom>
        </p:spPr>
      </p:pic>
      <p:sp>
        <p:nvSpPr>
          <p:cNvPr id="17" name="Title">
            <a:extLst>
              <a:ext uri="{FF2B5EF4-FFF2-40B4-BE49-F238E27FC236}">
                <a16:creationId xmlns:a16="http://schemas.microsoft.com/office/drawing/2014/main" id="{510BC396-18BE-968F-BE9A-9AFAAAB95556}"/>
              </a:ext>
            </a:extLst>
          </p:cNvPr>
          <p:cNvSpPr txBox="1">
            <a:spLocks/>
          </p:cNvSpPr>
          <p:nvPr/>
        </p:nvSpPr>
        <p:spPr bwMode="auto">
          <a:xfrm>
            <a:off x="403654" y="3352800"/>
            <a:ext cx="5844746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+mj-lt"/>
                <a:ea typeface="ＭＳ Ｐゴシック" charset="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l"/>
            <a:r>
              <a:rPr lang="en-US" sz="4600" b="1" dirty="0">
                <a:solidFill>
                  <a:srgbClr val="FFFFFF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Integrated Modeling for the RST</a:t>
            </a:r>
            <a:endParaRPr lang="en-US" sz="4600" b="1" kern="0" dirty="0">
              <a:latin typeface="Helvetica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A5EC47-AA59-1FB8-A86B-F453BA424FF3}"/>
              </a:ext>
            </a:extLst>
          </p:cNvPr>
          <p:cNvSpPr txBox="1"/>
          <p:nvPr/>
        </p:nvSpPr>
        <p:spPr>
          <a:xfrm>
            <a:off x="403654" y="5685928"/>
            <a:ext cx="4114800" cy="384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Helvetica" pitchFamily="2" charset="0"/>
                <a:cs typeface="Arial" panose="020B0604020202020204" pitchFamily="34" charset="0"/>
              </a:rPr>
              <a:t>Eric Chen – Astrophysics Junior, UC Berkeley </a:t>
            </a:r>
          </a:p>
        </p:txBody>
      </p:sp>
      <p:sp>
        <p:nvSpPr>
          <p:cNvPr id="19" name="TextBox 1">
            <a:extLst>
              <a:ext uri="{FF2B5EF4-FFF2-40B4-BE49-F238E27FC236}">
                <a16:creationId xmlns:a16="http://schemas.microsoft.com/office/drawing/2014/main" id="{B0EE1455-D938-4421-2FD9-17DD9C07793A}"/>
              </a:ext>
            </a:extLst>
          </p:cNvPr>
          <p:cNvSpPr txBox="1"/>
          <p:nvPr/>
        </p:nvSpPr>
        <p:spPr>
          <a:xfrm>
            <a:off x="403654" y="4866115"/>
            <a:ext cx="5715000" cy="571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300" b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STOP Pipeline and Jitter Analysis</a:t>
            </a:r>
            <a:endParaRPr lang="en-US" sz="1600" b="1" dirty="0">
              <a:latin typeface="Helvetica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2725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">
            <a:extLst>
              <a:ext uri="{FF2B5EF4-FFF2-40B4-BE49-F238E27FC236}">
                <a16:creationId xmlns:a16="http://schemas.microsoft.com/office/drawing/2014/main" id="{5E2AD126-2B29-C9FD-D88F-C4C7E4A0681B}"/>
              </a:ext>
            </a:extLst>
          </p:cNvPr>
          <p:cNvSpPr txBox="1"/>
          <p:nvPr/>
        </p:nvSpPr>
        <p:spPr>
          <a:xfrm>
            <a:off x="6248400" y="6001762"/>
            <a:ext cx="5753100" cy="342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Helvetica" pitchFamily="2" charset="0"/>
                <a:cs typeface="Arial" panose="020B0604020202020204" pitchFamily="34" charset="0"/>
              </a:rPr>
              <a:t>Figure Caption Goes here (move around as needed)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22961C-A191-50FC-EE52-7A16650AA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5715000"/>
            <a:ext cx="798144" cy="914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F91365-6DEA-3CAE-0BE9-F13D3B654BE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7000"/>
          </a:blip>
          <a:stretch>
            <a:fillRect/>
          </a:stretch>
        </p:blipFill>
        <p:spPr>
          <a:xfrm>
            <a:off x="10287000" y="3749964"/>
            <a:ext cx="1473200" cy="2628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F2029F-8571-C89F-76EB-AF6B13D1CAF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6145" r="1"/>
          <a:stretch/>
        </p:blipFill>
        <p:spPr>
          <a:xfrm>
            <a:off x="0" y="304800"/>
            <a:ext cx="123465" cy="933225"/>
          </a:xfrm>
          <a:prstGeom prst="rect">
            <a:avLst/>
          </a:prstGeom>
        </p:spPr>
      </p:pic>
      <p:sp>
        <p:nvSpPr>
          <p:cNvPr id="9" name="Title">
            <a:extLst>
              <a:ext uri="{FF2B5EF4-FFF2-40B4-BE49-F238E27FC236}">
                <a16:creationId xmlns:a16="http://schemas.microsoft.com/office/drawing/2014/main" id="{AB1B8498-F42C-1B33-CE8D-FB8EF8AB5717}"/>
              </a:ext>
            </a:extLst>
          </p:cNvPr>
          <p:cNvSpPr txBox="1">
            <a:spLocks/>
          </p:cNvSpPr>
          <p:nvPr/>
        </p:nvSpPr>
        <p:spPr bwMode="auto">
          <a:xfrm>
            <a:off x="360784" y="152400"/>
            <a:ext cx="3144416" cy="519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+mj-lt"/>
                <a:ea typeface="ＭＳ Ｐゴシック" charset="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IM?</a:t>
            </a:r>
          </a:p>
        </p:txBody>
      </p:sp>
      <p:pic>
        <p:nvPicPr>
          <p:cNvPr id="3" name="Picture 2" descr="The JWST integrated modeling process. | Download Scientific Diagram">
            <a:extLst>
              <a:ext uri="{FF2B5EF4-FFF2-40B4-BE49-F238E27FC236}">
                <a16:creationId xmlns:a16="http://schemas.microsoft.com/office/drawing/2014/main" id="{BA961286-804F-597C-67AA-CE1CBAD21F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2992" y="771412"/>
            <a:ext cx="7924800" cy="570585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34E31F85-CE4F-EBC2-F033-EB8D1550D8BD}"/>
              </a:ext>
            </a:extLst>
          </p:cNvPr>
          <p:cNvSpPr/>
          <p:nvPr/>
        </p:nvSpPr>
        <p:spPr bwMode="auto">
          <a:xfrm>
            <a:off x="2057400" y="914400"/>
            <a:ext cx="2590800" cy="1895588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B6AE748-65A7-DA65-2A39-4DBBB32564DD}"/>
              </a:ext>
            </a:extLst>
          </p:cNvPr>
          <p:cNvSpPr/>
          <p:nvPr/>
        </p:nvSpPr>
        <p:spPr bwMode="auto">
          <a:xfrm>
            <a:off x="1742840" y="2809988"/>
            <a:ext cx="2590800" cy="1895588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F6C95FE-1F67-A421-F658-EFADA085A726}"/>
              </a:ext>
            </a:extLst>
          </p:cNvPr>
          <p:cNvSpPr/>
          <p:nvPr/>
        </p:nvSpPr>
        <p:spPr bwMode="auto">
          <a:xfrm>
            <a:off x="1863490" y="4587943"/>
            <a:ext cx="2590800" cy="1895588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CE067A4-45E6-28A8-56B8-8220468A7236}"/>
              </a:ext>
            </a:extLst>
          </p:cNvPr>
          <p:cNvSpPr/>
          <p:nvPr/>
        </p:nvSpPr>
        <p:spPr bwMode="auto">
          <a:xfrm>
            <a:off x="7481596" y="2699662"/>
            <a:ext cx="2590800" cy="1895588"/>
          </a:xfrm>
          <a:prstGeom prst="ellipse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C66C90E-D2AB-F9CD-F35A-EA3896DF486B}"/>
              </a:ext>
            </a:extLst>
          </p:cNvPr>
          <p:cNvSpPr/>
          <p:nvPr/>
        </p:nvSpPr>
        <p:spPr bwMode="auto">
          <a:xfrm>
            <a:off x="7481596" y="4503109"/>
            <a:ext cx="2590800" cy="1895588"/>
          </a:xfrm>
          <a:prstGeom prst="ellipse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C8E357E-635A-7FC2-0494-794412FC5657}"/>
              </a:ext>
            </a:extLst>
          </p:cNvPr>
          <p:cNvSpPr/>
          <p:nvPr/>
        </p:nvSpPr>
        <p:spPr bwMode="auto">
          <a:xfrm>
            <a:off x="1863490" y="4581680"/>
            <a:ext cx="2590800" cy="1895588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F624546-D1BD-7E01-ACB3-F1F2D1013D13}"/>
              </a:ext>
            </a:extLst>
          </p:cNvPr>
          <p:cNvSpPr/>
          <p:nvPr/>
        </p:nvSpPr>
        <p:spPr bwMode="auto">
          <a:xfrm>
            <a:off x="4662196" y="914400"/>
            <a:ext cx="2698750" cy="2286000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D2E3DFC-E0B2-FFD5-3C6C-72C1035CABFD}"/>
              </a:ext>
            </a:extLst>
          </p:cNvPr>
          <p:cNvSpPr/>
          <p:nvPr/>
        </p:nvSpPr>
        <p:spPr bwMode="auto">
          <a:xfrm>
            <a:off x="7481596" y="2699662"/>
            <a:ext cx="2590800" cy="1895588"/>
          </a:xfrm>
          <a:prstGeom prst="ellipse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FD387B9-9349-B461-F21E-44BADC8FB5CE}"/>
              </a:ext>
            </a:extLst>
          </p:cNvPr>
          <p:cNvSpPr/>
          <p:nvPr/>
        </p:nvSpPr>
        <p:spPr bwMode="auto">
          <a:xfrm>
            <a:off x="7220015" y="846344"/>
            <a:ext cx="2590800" cy="1895588"/>
          </a:xfrm>
          <a:prstGeom prst="ellipse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42450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 animBg="1"/>
      <p:bldP spid="4" grpId="1" animBg="1"/>
      <p:bldP spid="5" grpId="0" animBg="1"/>
      <p:bldP spid="5" grpId="1" animBg="1"/>
      <p:bldP spid="7" grpId="0" animBg="1"/>
      <p:bldP spid="7" grpId="1" animBg="1"/>
      <p:bldP spid="8" grpId="0" animBg="1"/>
      <p:bldP spid="8" grpId="1" animBg="1"/>
      <p:bldP spid="11" grpId="0" animBg="1"/>
      <p:bldP spid="12" grpId="0" animBg="1"/>
      <p:bldP spid="13" grpId="0" animBg="1"/>
      <p:bldP spid="13" grpId="1" animBg="1"/>
      <p:bldP spid="15" grpId="0" animBg="1"/>
      <p:bldP spid="15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2AE681-78F6-B870-09A6-C1C223039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">
            <a:extLst>
              <a:ext uri="{FF2B5EF4-FFF2-40B4-BE49-F238E27FC236}">
                <a16:creationId xmlns:a16="http://schemas.microsoft.com/office/drawing/2014/main" id="{8B06BCD9-4BCE-27DB-F53F-96C2F6CD9611}"/>
              </a:ext>
            </a:extLst>
          </p:cNvPr>
          <p:cNvSpPr txBox="1"/>
          <p:nvPr/>
        </p:nvSpPr>
        <p:spPr>
          <a:xfrm>
            <a:off x="6248400" y="6001762"/>
            <a:ext cx="5753100" cy="342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 pitchFamily="2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Figure Caption Goes here (move around as needed)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71D82EA-D2D3-C377-1939-2F22F6B9C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5715000"/>
            <a:ext cx="798144" cy="914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97ED262-9047-87DA-C3F6-69B22237B56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7000"/>
          </a:blip>
          <a:stretch>
            <a:fillRect/>
          </a:stretch>
        </p:blipFill>
        <p:spPr>
          <a:xfrm>
            <a:off x="10287000" y="3749964"/>
            <a:ext cx="1473200" cy="2628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7CE562-71A1-5DC3-D16A-DC66600267B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6145" r="1"/>
          <a:stretch/>
        </p:blipFill>
        <p:spPr>
          <a:xfrm>
            <a:off x="0" y="304800"/>
            <a:ext cx="123465" cy="933225"/>
          </a:xfrm>
          <a:prstGeom prst="rect">
            <a:avLst/>
          </a:prstGeom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3F7738A8-DA14-5D4E-634E-1D6418BA8FE5}"/>
              </a:ext>
            </a:extLst>
          </p:cNvPr>
          <p:cNvSpPr txBox="1"/>
          <p:nvPr/>
        </p:nvSpPr>
        <p:spPr>
          <a:xfrm>
            <a:off x="304800" y="1044594"/>
            <a:ext cx="11754572" cy="5126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STOP: Structural, Thermal, and Optical Pipeline</a:t>
            </a:r>
          </a:p>
          <a:p>
            <a:pPr marL="800100" lvl="1" indent="-342900">
              <a:lnSpc>
                <a:spcPct val="150000"/>
              </a:lnSpc>
              <a:buFont typeface="Times Roman"/>
              <a:buChar char="–"/>
            </a:pPr>
            <a:r>
              <a:rPr lang="en-US" sz="2000" dirty="0">
                <a:solidFill>
                  <a:srgbClr val="000000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Challenge: Jobs span multiple computers, hard to track progress</a:t>
            </a:r>
          </a:p>
          <a:p>
            <a:pPr marL="800100" lvl="1" indent="-342900">
              <a:lnSpc>
                <a:spcPct val="150000"/>
              </a:lnSpc>
              <a:buFont typeface="Times Roman"/>
              <a:buChar char="–"/>
            </a:pPr>
            <a:r>
              <a:rPr lang="en-US" sz="2000" dirty="0">
                <a:solidFill>
                  <a:srgbClr val="000000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Solution: Log streaming function 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1" dirty="0">
                <a:solidFill>
                  <a:srgbClr val="000000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Jitter Analysis: Reaction wheel causes vibrations and affects image quality</a:t>
            </a:r>
          </a:p>
          <a:p>
            <a:pPr marL="800100" lvl="1" indent="-342900">
              <a:lnSpc>
                <a:spcPct val="150000"/>
              </a:lnSpc>
              <a:buFont typeface="Times Roman"/>
              <a:buChar char="–"/>
            </a:pPr>
            <a:r>
              <a:rPr lang="en-US" sz="2000" dirty="0">
                <a:solidFill>
                  <a:srgbClr val="000000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Challenge: Analysis script is one giant MATLAB file, requires manual handoff and calculations are slow</a:t>
            </a:r>
          </a:p>
          <a:p>
            <a:pPr marL="800100" lvl="1" indent="-342900">
              <a:lnSpc>
                <a:spcPct val="150000"/>
              </a:lnSpc>
              <a:buFont typeface="Times Roman"/>
              <a:buChar char="–"/>
            </a:pPr>
            <a:r>
              <a:rPr lang="en-US" sz="2000" dirty="0">
                <a:solidFill>
                  <a:srgbClr val="000000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Solution: Standalone MATLAB function and improved efficiency in calculation</a:t>
            </a:r>
          </a:p>
          <a:p>
            <a:pPr marL="800100" lvl="1" indent="-342900">
              <a:lnSpc>
                <a:spcPct val="150000"/>
              </a:lnSpc>
              <a:buFont typeface="Times Roman"/>
              <a:buChar char="–"/>
            </a:pPr>
            <a:endParaRPr lang="en-US" sz="2000" dirty="0">
              <a:solidFill>
                <a:srgbClr val="000000"/>
              </a:solidFill>
              <a:latin typeface="Helvetica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800100" lvl="1" indent="-342900">
              <a:lnSpc>
                <a:spcPct val="150000"/>
              </a:lnSpc>
              <a:buFont typeface="Times Roman"/>
              <a:buChar char="–"/>
            </a:pPr>
            <a:endParaRPr lang="en-US" sz="2000" b="1" dirty="0">
              <a:solidFill>
                <a:srgbClr val="000000"/>
              </a:solidFill>
              <a:latin typeface="Helvetica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000" b="1" dirty="0">
              <a:solidFill>
                <a:srgbClr val="000000"/>
              </a:solidFill>
              <a:latin typeface="Helvetica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2A8BC1B8-D5C1-DDD3-B5F4-A87E3F04F2D0}"/>
              </a:ext>
            </a:extLst>
          </p:cNvPr>
          <p:cNvSpPr txBox="1">
            <a:spLocks/>
          </p:cNvSpPr>
          <p:nvPr/>
        </p:nvSpPr>
        <p:spPr bwMode="auto">
          <a:xfrm>
            <a:off x="3152192" y="355849"/>
            <a:ext cx="5887616" cy="519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+mj-lt"/>
                <a:ea typeface="ＭＳ Ｐゴシック" charset="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STOP Pipeline and Jitter Analysis</a:t>
            </a:r>
          </a:p>
        </p:txBody>
      </p:sp>
    </p:spTree>
    <p:extLst>
      <p:ext uri="{BB962C8B-B14F-4D97-AF65-F5344CB8AC3E}">
        <p14:creationId xmlns:p14="http://schemas.microsoft.com/office/powerpoint/2010/main" val="3756583728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3F851F-5804-49FD-F1FD-FF14A971B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">
            <a:extLst>
              <a:ext uri="{FF2B5EF4-FFF2-40B4-BE49-F238E27FC236}">
                <a16:creationId xmlns:a16="http://schemas.microsoft.com/office/drawing/2014/main" id="{FE4F4BCD-6A68-51DE-C095-A5ED4B2F44BE}"/>
              </a:ext>
            </a:extLst>
          </p:cNvPr>
          <p:cNvSpPr txBox="1"/>
          <p:nvPr/>
        </p:nvSpPr>
        <p:spPr>
          <a:xfrm>
            <a:off x="6248400" y="6001762"/>
            <a:ext cx="5753100" cy="342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 pitchFamily="2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Figure Caption Goes here (move around as needed)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300881-9A9A-705E-ED0E-0407D0F89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5715000"/>
            <a:ext cx="798144" cy="914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16AB6F9-EC06-175A-9D17-FE49C1990E4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7000"/>
          </a:blip>
          <a:stretch>
            <a:fillRect/>
          </a:stretch>
        </p:blipFill>
        <p:spPr>
          <a:xfrm>
            <a:off x="10287000" y="3749964"/>
            <a:ext cx="1473200" cy="2628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27CAF7-F32A-6E28-19EA-971E5FA6F5E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6145" r="1"/>
          <a:stretch/>
        </p:blipFill>
        <p:spPr>
          <a:xfrm>
            <a:off x="0" y="304800"/>
            <a:ext cx="123465" cy="933225"/>
          </a:xfrm>
          <a:prstGeom prst="rect">
            <a:avLst/>
          </a:prstGeom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72E6D462-A95C-FC68-C275-B2FD25C0A0C1}"/>
              </a:ext>
            </a:extLst>
          </p:cNvPr>
          <p:cNvSpPr txBox="1"/>
          <p:nvPr/>
        </p:nvSpPr>
        <p:spPr>
          <a:xfrm>
            <a:off x="304800" y="1044594"/>
            <a:ext cx="11754572" cy="5126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1" dirty="0">
                <a:solidFill>
                  <a:srgbClr val="000000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Original Workflow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Roman"/>
              <a:buChar char="–"/>
              <a:tabLst/>
              <a:defRPr/>
            </a:pPr>
            <a:r>
              <a:rPr lang="en-US" sz="2000" dirty="0">
                <a:solidFill>
                  <a:srgbClr val="000000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Friction: Each engineer has their own scripts and only they can run it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Roman"/>
              <a:buChar char="–"/>
              <a:tabLst/>
              <a:defRPr/>
            </a:pPr>
            <a:r>
              <a:rPr lang="en-US" sz="2000" dirty="0">
                <a:solidFill>
                  <a:srgbClr val="000000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Downtime: Speed of analysis rested on availability of each individual team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1" dirty="0">
                <a:solidFill>
                  <a:srgbClr val="000000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Automated Workflow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Roman"/>
              <a:buChar char="–"/>
              <a:tabLst/>
              <a:defRPr/>
            </a:pPr>
            <a:r>
              <a:rPr lang="en-US" sz="2000" dirty="0">
                <a:solidFill>
                  <a:srgbClr val="000000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GUI launches on local computer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Roman"/>
              <a:buChar char="–"/>
              <a:tabLst/>
              <a:defRPr/>
            </a:pPr>
            <a:r>
              <a:rPr lang="en-US" sz="2000" dirty="0">
                <a:solidFill>
                  <a:srgbClr val="000000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Connects to IM Computer and Discover through GUI script</a:t>
            </a: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Roman"/>
              <a:buChar char="–"/>
              <a:tabLst/>
              <a:defRPr/>
            </a:pPr>
            <a:r>
              <a:rPr lang="en-US" sz="2000" dirty="0">
                <a:solidFill>
                  <a:srgbClr val="000000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However, logs are generated on Discover, and it has a 2FA process.</a:t>
            </a: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Roman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Hard to track </a:t>
            </a:r>
            <a:r>
              <a:rPr lang="en-US" sz="2000" dirty="0">
                <a:solidFill>
                  <a:srgbClr val="000000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progress of remote run unless logging in to Discover constantly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Roman"/>
              <a:buChar char="–"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88AF8332-7E78-8589-EAFA-FDD9BA16CA90}"/>
              </a:ext>
            </a:extLst>
          </p:cNvPr>
          <p:cNvSpPr txBox="1">
            <a:spLocks/>
          </p:cNvSpPr>
          <p:nvPr/>
        </p:nvSpPr>
        <p:spPr bwMode="auto">
          <a:xfrm>
            <a:off x="3152192" y="355849"/>
            <a:ext cx="5887616" cy="519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+mj-lt"/>
                <a:ea typeface="ＭＳ Ｐゴシック" charset="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STOP Before</a:t>
            </a:r>
          </a:p>
        </p:txBody>
      </p:sp>
    </p:spTree>
    <p:extLst>
      <p:ext uri="{BB962C8B-B14F-4D97-AF65-F5344CB8AC3E}">
        <p14:creationId xmlns:p14="http://schemas.microsoft.com/office/powerpoint/2010/main" val="1156234942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A828D9-E60B-14CB-49AF-60C8351A1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">
            <a:extLst>
              <a:ext uri="{FF2B5EF4-FFF2-40B4-BE49-F238E27FC236}">
                <a16:creationId xmlns:a16="http://schemas.microsoft.com/office/drawing/2014/main" id="{AD915E06-3074-3146-47E6-4C95F3B051AE}"/>
              </a:ext>
            </a:extLst>
          </p:cNvPr>
          <p:cNvSpPr txBox="1"/>
          <p:nvPr/>
        </p:nvSpPr>
        <p:spPr>
          <a:xfrm>
            <a:off x="6248400" y="6001762"/>
            <a:ext cx="5753100" cy="342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 pitchFamily="2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Figure Caption Goes here (move around as needed)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C36968-3C8E-14D2-C5D4-429B40091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5715000"/>
            <a:ext cx="798144" cy="914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E30139-2A4E-352A-3FED-4AE25AA36C3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145" r="1"/>
          <a:stretch/>
        </p:blipFill>
        <p:spPr>
          <a:xfrm>
            <a:off x="0" y="304800"/>
            <a:ext cx="123465" cy="933225"/>
          </a:xfrm>
          <a:prstGeom prst="rect">
            <a:avLst/>
          </a:prstGeom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EFEE9B01-0E90-D739-D3DE-5CEEEFB6D49B}"/>
              </a:ext>
            </a:extLst>
          </p:cNvPr>
          <p:cNvSpPr txBox="1"/>
          <p:nvPr/>
        </p:nvSpPr>
        <p:spPr>
          <a:xfrm>
            <a:off x="302712" y="820875"/>
            <a:ext cx="11754572" cy="327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1" dirty="0">
                <a:solidFill>
                  <a:srgbClr val="000000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Log Streaming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Roman"/>
              <a:buChar char="–"/>
              <a:tabLst/>
              <a:defRPr/>
            </a:pPr>
            <a:r>
              <a:rPr lang="en-US" sz="2000" dirty="0">
                <a:solidFill>
                  <a:srgbClr val="000000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Daemon collects new logs generated on Discover</a:t>
            </a: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Roman"/>
              <a:buChar char="–"/>
              <a:tabLst/>
              <a:defRPr/>
            </a:pPr>
            <a:r>
              <a:rPr lang="en-US" sz="2000" dirty="0">
                <a:solidFill>
                  <a:srgbClr val="000000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Bundles together and send it over to IM Computer and then relayed to local computer</a:t>
            </a:r>
          </a:p>
          <a:p>
            <a:pPr lvl="0">
              <a:lnSpc>
                <a:spcPct val="150000"/>
              </a:lnSpc>
              <a:defRPr/>
            </a:pPr>
            <a:r>
              <a:rPr lang="en-US" sz="2000" dirty="0">
                <a:solidFill>
                  <a:srgbClr val="3200DE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Blue arrow</a:t>
            </a:r>
            <a:r>
              <a:rPr lang="en-US" sz="2000" dirty="0">
                <a:solidFill>
                  <a:srgbClr val="000000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Task Definition</a:t>
            </a:r>
          </a:p>
          <a:p>
            <a:pPr lvl="0">
              <a:lnSpc>
                <a:spcPct val="150000"/>
              </a:lnSpc>
              <a:defRPr/>
            </a:pPr>
            <a:r>
              <a:rPr lang="en-US" sz="2000" dirty="0">
                <a:solidFill>
                  <a:srgbClr val="92D051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Green arrow</a:t>
            </a:r>
            <a:r>
              <a:rPr lang="en-US" sz="2000" dirty="0">
                <a:solidFill>
                  <a:srgbClr val="000000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Logs</a:t>
            </a:r>
          </a:p>
          <a:p>
            <a:pPr marR="0" lvl="1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89A1CF53-0857-3ADE-EFC8-64C59B78CC1B}"/>
              </a:ext>
            </a:extLst>
          </p:cNvPr>
          <p:cNvSpPr txBox="1">
            <a:spLocks/>
          </p:cNvSpPr>
          <p:nvPr/>
        </p:nvSpPr>
        <p:spPr bwMode="auto">
          <a:xfrm>
            <a:off x="3152192" y="355849"/>
            <a:ext cx="5887616" cy="519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+mj-lt"/>
                <a:ea typeface="ＭＳ Ｐゴシック" charset="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STOP After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14318F4-717A-1A27-4C4B-2AB99C3F586D}"/>
              </a:ext>
            </a:extLst>
          </p:cNvPr>
          <p:cNvGrpSpPr/>
          <p:nvPr/>
        </p:nvGrpSpPr>
        <p:grpSpPr>
          <a:xfrm>
            <a:off x="440000" y="3125123"/>
            <a:ext cx="11307824" cy="1785446"/>
            <a:chOff x="569419" y="2742171"/>
            <a:chExt cx="11307824" cy="1785446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BD7B8182-F0E1-54C6-98AB-9AC069AF1B3B}"/>
                </a:ext>
              </a:extLst>
            </p:cNvPr>
            <p:cNvSpPr/>
            <p:nvPr/>
          </p:nvSpPr>
          <p:spPr>
            <a:xfrm>
              <a:off x="569419" y="2742171"/>
              <a:ext cx="2975743" cy="1785446"/>
            </a:xfrm>
            <a:custGeom>
              <a:avLst/>
              <a:gdLst>
                <a:gd name="csX0" fmla="*/ 0 w 2975743"/>
                <a:gd name="csY0" fmla="*/ 178545 h 1785446"/>
                <a:gd name="csX1" fmla="*/ 178545 w 2975743"/>
                <a:gd name="csY1" fmla="*/ 0 h 1785446"/>
                <a:gd name="csX2" fmla="*/ 2797198 w 2975743"/>
                <a:gd name="csY2" fmla="*/ 0 h 1785446"/>
                <a:gd name="csX3" fmla="*/ 2975743 w 2975743"/>
                <a:gd name="csY3" fmla="*/ 178545 h 1785446"/>
                <a:gd name="csX4" fmla="*/ 2975743 w 2975743"/>
                <a:gd name="csY4" fmla="*/ 1606901 h 1785446"/>
                <a:gd name="csX5" fmla="*/ 2797198 w 2975743"/>
                <a:gd name="csY5" fmla="*/ 1785446 h 1785446"/>
                <a:gd name="csX6" fmla="*/ 178545 w 2975743"/>
                <a:gd name="csY6" fmla="*/ 1785446 h 1785446"/>
                <a:gd name="csX7" fmla="*/ 0 w 2975743"/>
                <a:gd name="csY7" fmla="*/ 1606901 h 1785446"/>
                <a:gd name="csX8" fmla="*/ 0 w 2975743"/>
                <a:gd name="csY8" fmla="*/ 178545 h 17854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975743" h="1785446">
                  <a:moveTo>
                    <a:pt x="0" y="178545"/>
                  </a:moveTo>
                  <a:cubicBezTo>
                    <a:pt x="0" y="79937"/>
                    <a:pt x="79937" y="0"/>
                    <a:pt x="178545" y="0"/>
                  </a:cubicBezTo>
                  <a:lnTo>
                    <a:pt x="2797198" y="0"/>
                  </a:lnTo>
                  <a:cubicBezTo>
                    <a:pt x="2895806" y="0"/>
                    <a:pt x="2975743" y="79937"/>
                    <a:pt x="2975743" y="178545"/>
                  </a:cubicBezTo>
                  <a:lnTo>
                    <a:pt x="2975743" y="1606901"/>
                  </a:lnTo>
                  <a:cubicBezTo>
                    <a:pt x="2975743" y="1705509"/>
                    <a:pt x="2895806" y="1785446"/>
                    <a:pt x="2797198" y="1785446"/>
                  </a:cubicBezTo>
                  <a:lnTo>
                    <a:pt x="178545" y="1785446"/>
                  </a:lnTo>
                  <a:cubicBezTo>
                    <a:pt x="79937" y="1785446"/>
                    <a:pt x="0" y="1705509"/>
                    <a:pt x="0" y="1606901"/>
                  </a:cubicBezTo>
                  <a:lnTo>
                    <a:pt x="0" y="17854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3744" tIns="223744" rIns="223744" bIns="223744" numCol="1" spcCol="1270" anchor="ctr" anchorCtr="0">
              <a:noAutofit/>
            </a:bodyPr>
            <a:lstStyle/>
            <a:p>
              <a:pPr marL="0" lvl="0" indent="0" algn="ctr" defTabSz="2000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500" kern="1200" dirty="0"/>
                <a:t>Local Computer</a:t>
              </a:r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88F85BB-61CF-828D-504A-7E632F4D7E02}"/>
                </a:ext>
              </a:extLst>
            </p:cNvPr>
            <p:cNvSpPr/>
            <p:nvPr/>
          </p:nvSpPr>
          <p:spPr>
            <a:xfrm>
              <a:off x="4735459" y="2742171"/>
              <a:ext cx="2975743" cy="1785446"/>
            </a:xfrm>
            <a:custGeom>
              <a:avLst/>
              <a:gdLst>
                <a:gd name="csX0" fmla="*/ 0 w 2975743"/>
                <a:gd name="csY0" fmla="*/ 178545 h 1785446"/>
                <a:gd name="csX1" fmla="*/ 178545 w 2975743"/>
                <a:gd name="csY1" fmla="*/ 0 h 1785446"/>
                <a:gd name="csX2" fmla="*/ 2797198 w 2975743"/>
                <a:gd name="csY2" fmla="*/ 0 h 1785446"/>
                <a:gd name="csX3" fmla="*/ 2975743 w 2975743"/>
                <a:gd name="csY3" fmla="*/ 178545 h 1785446"/>
                <a:gd name="csX4" fmla="*/ 2975743 w 2975743"/>
                <a:gd name="csY4" fmla="*/ 1606901 h 1785446"/>
                <a:gd name="csX5" fmla="*/ 2797198 w 2975743"/>
                <a:gd name="csY5" fmla="*/ 1785446 h 1785446"/>
                <a:gd name="csX6" fmla="*/ 178545 w 2975743"/>
                <a:gd name="csY6" fmla="*/ 1785446 h 1785446"/>
                <a:gd name="csX7" fmla="*/ 0 w 2975743"/>
                <a:gd name="csY7" fmla="*/ 1606901 h 1785446"/>
                <a:gd name="csX8" fmla="*/ 0 w 2975743"/>
                <a:gd name="csY8" fmla="*/ 178545 h 17854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975743" h="1785446">
                  <a:moveTo>
                    <a:pt x="0" y="178545"/>
                  </a:moveTo>
                  <a:cubicBezTo>
                    <a:pt x="0" y="79937"/>
                    <a:pt x="79937" y="0"/>
                    <a:pt x="178545" y="0"/>
                  </a:cubicBezTo>
                  <a:lnTo>
                    <a:pt x="2797198" y="0"/>
                  </a:lnTo>
                  <a:cubicBezTo>
                    <a:pt x="2895806" y="0"/>
                    <a:pt x="2975743" y="79937"/>
                    <a:pt x="2975743" y="178545"/>
                  </a:cubicBezTo>
                  <a:lnTo>
                    <a:pt x="2975743" y="1606901"/>
                  </a:lnTo>
                  <a:cubicBezTo>
                    <a:pt x="2975743" y="1705509"/>
                    <a:pt x="2895806" y="1785446"/>
                    <a:pt x="2797198" y="1785446"/>
                  </a:cubicBezTo>
                  <a:lnTo>
                    <a:pt x="178545" y="1785446"/>
                  </a:lnTo>
                  <a:cubicBezTo>
                    <a:pt x="79937" y="1785446"/>
                    <a:pt x="0" y="1705509"/>
                    <a:pt x="0" y="1606901"/>
                  </a:cubicBezTo>
                  <a:lnTo>
                    <a:pt x="0" y="17854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3744" tIns="223744" rIns="223744" bIns="223744" numCol="1" spcCol="1270" anchor="ctr" anchorCtr="0">
              <a:noAutofit/>
            </a:bodyPr>
            <a:lstStyle/>
            <a:p>
              <a:pPr marL="0" lvl="0" indent="0" algn="ctr" defTabSz="2000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500" kern="1200" dirty="0"/>
                <a:t>IM Computer</a:t>
              </a:r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A08D2BE6-98D7-D2A3-4A0C-EAE7E2FBAD95}"/>
                </a:ext>
              </a:extLst>
            </p:cNvPr>
            <p:cNvSpPr/>
            <p:nvPr/>
          </p:nvSpPr>
          <p:spPr>
            <a:xfrm>
              <a:off x="8901500" y="2742171"/>
              <a:ext cx="2975743" cy="1785446"/>
            </a:xfrm>
            <a:custGeom>
              <a:avLst/>
              <a:gdLst>
                <a:gd name="csX0" fmla="*/ 0 w 2975743"/>
                <a:gd name="csY0" fmla="*/ 178545 h 1785446"/>
                <a:gd name="csX1" fmla="*/ 178545 w 2975743"/>
                <a:gd name="csY1" fmla="*/ 0 h 1785446"/>
                <a:gd name="csX2" fmla="*/ 2797198 w 2975743"/>
                <a:gd name="csY2" fmla="*/ 0 h 1785446"/>
                <a:gd name="csX3" fmla="*/ 2975743 w 2975743"/>
                <a:gd name="csY3" fmla="*/ 178545 h 1785446"/>
                <a:gd name="csX4" fmla="*/ 2975743 w 2975743"/>
                <a:gd name="csY4" fmla="*/ 1606901 h 1785446"/>
                <a:gd name="csX5" fmla="*/ 2797198 w 2975743"/>
                <a:gd name="csY5" fmla="*/ 1785446 h 1785446"/>
                <a:gd name="csX6" fmla="*/ 178545 w 2975743"/>
                <a:gd name="csY6" fmla="*/ 1785446 h 1785446"/>
                <a:gd name="csX7" fmla="*/ 0 w 2975743"/>
                <a:gd name="csY7" fmla="*/ 1606901 h 1785446"/>
                <a:gd name="csX8" fmla="*/ 0 w 2975743"/>
                <a:gd name="csY8" fmla="*/ 178545 h 17854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975743" h="1785446">
                  <a:moveTo>
                    <a:pt x="0" y="178545"/>
                  </a:moveTo>
                  <a:cubicBezTo>
                    <a:pt x="0" y="79937"/>
                    <a:pt x="79937" y="0"/>
                    <a:pt x="178545" y="0"/>
                  </a:cubicBezTo>
                  <a:lnTo>
                    <a:pt x="2797198" y="0"/>
                  </a:lnTo>
                  <a:cubicBezTo>
                    <a:pt x="2895806" y="0"/>
                    <a:pt x="2975743" y="79937"/>
                    <a:pt x="2975743" y="178545"/>
                  </a:cubicBezTo>
                  <a:lnTo>
                    <a:pt x="2975743" y="1606901"/>
                  </a:lnTo>
                  <a:cubicBezTo>
                    <a:pt x="2975743" y="1705509"/>
                    <a:pt x="2895806" y="1785446"/>
                    <a:pt x="2797198" y="1785446"/>
                  </a:cubicBezTo>
                  <a:lnTo>
                    <a:pt x="178545" y="1785446"/>
                  </a:lnTo>
                  <a:cubicBezTo>
                    <a:pt x="79937" y="1785446"/>
                    <a:pt x="0" y="1705509"/>
                    <a:pt x="0" y="1606901"/>
                  </a:cubicBezTo>
                  <a:lnTo>
                    <a:pt x="0" y="17854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3744" tIns="223744" rIns="223744" bIns="223744" numCol="1" spcCol="1270" anchor="ctr" anchorCtr="0">
              <a:noAutofit/>
            </a:bodyPr>
            <a:lstStyle/>
            <a:p>
              <a:pPr marL="0" lvl="0" indent="0" algn="ctr" defTabSz="2000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500" kern="1200" dirty="0"/>
                <a:t>Discover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4CF51F8-DBC7-1796-7EA0-63E1B5B72031}"/>
              </a:ext>
            </a:extLst>
          </p:cNvPr>
          <p:cNvGrpSpPr/>
          <p:nvPr/>
        </p:nvGrpSpPr>
        <p:grpSpPr>
          <a:xfrm rot="10800000">
            <a:off x="3372293" y="3564672"/>
            <a:ext cx="1256052" cy="473793"/>
            <a:chOff x="3011408" y="2651036"/>
            <a:chExt cx="1153529" cy="473793"/>
          </a:xfrm>
          <a:solidFill>
            <a:srgbClr val="92D050"/>
          </a:solidFill>
        </p:grpSpPr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A94B08E7-DBC6-0133-573F-594DAAC96854}"/>
                </a:ext>
              </a:extLst>
            </p:cNvPr>
            <p:cNvSpPr/>
            <p:nvPr/>
          </p:nvSpPr>
          <p:spPr>
            <a:xfrm>
              <a:off x="3011408" y="2651036"/>
              <a:ext cx="1153529" cy="473793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Right Arrow 4">
              <a:extLst>
                <a:ext uri="{FF2B5EF4-FFF2-40B4-BE49-F238E27FC236}">
                  <a16:creationId xmlns:a16="http://schemas.microsoft.com/office/drawing/2014/main" id="{D35C0DCB-6B19-F1B7-D5B8-A0B88C8C07E9}"/>
                </a:ext>
              </a:extLst>
            </p:cNvPr>
            <p:cNvSpPr txBox="1"/>
            <p:nvPr/>
          </p:nvSpPr>
          <p:spPr>
            <a:xfrm>
              <a:off x="3011408" y="2745795"/>
              <a:ext cx="1011391" cy="284275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100" kern="120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E8B3E80-7EC0-EB37-48DA-6B291CD4FE08}"/>
              </a:ext>
            </a:extLst>
          </p:cNvPr>
          <p:cNvGrpSpPr/>
          <p:nvPr/>
        </p:nvGrpSpPr>
        <p:grpSpPr>
          <a:xfrm>
            <a:off x="3404753" y="4035929"/>
            <a:ext cx="1256052" cy="473793"/>
            <a:chOff x="3011408" y="2651036"/>
            <a:chExt cx="1153529" cy="473793"/>
          </a:xfrm>
          <a:solidFill>
            <a:srgbClr val="504EEE"/>
          </a:solidFill>
        </p:grpSpPr>
        <p:sp>
          <p:nvSpPr>
            <p:cNvPr id="15" name="Right Arrow 14">
              <a:extLst>
                <a:ext uri="{FF2B5EF4-FFF2-40B4-BE49-F238E27FC236}">
                  <a16:creationId xmlns:a16="http://schemas.microsoft.com/office/drawing/2014/main" id="{71FE1F8D-A25F-F3DB-4D84-51E0B3817723}"/>
                </a:ext>
              </a:extLst>
            </p:cNvPr>
            <p:cNvSpPr/>
            <p:nvPr/>
          </p:nvSpPr>
          <p:spPr>
            <a:xfrm>
              <a:off x="3011408" y="2651036"/>
              <a:ext cx="1153529" cy="473793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ight Arrow 4">
              <a:extLst>
                <a:ext uri="{FF2B5EF4-FFF2-40B4-BE49-F238E27FC236}">
                  <a16:creationId xmlns:a16="http://schemas.microsoft.com/office/drawing/2014/main" id="{33E16171-1A50-6D33-E4EB-C1CA7DBE641F}"/>
                </a:ext>
              </a:extLst>
            </p:cNvPr>
            <p:cNvSpPr txBox="1"/>
            <p:nvPr/>
          </p:nvSpPr>
          <p:spPr>
            <a:xfrm>
              <a:off x="3011408" y="2745795"/>
              <a:ext cx="1011391" cy="284275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100" kern="120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93A03FB-5DB8-4A3E-E779-8EAF2C148236}"/>
              </a:ext>
            </a:extLst>
          </p:cNvPr>
          <p:cNvGrpSpPr/>
          <p:nvPr/>
        </p:nvGrpSpPr>
        <p:grpSpPr>
          <a:xfrm>
            <a:off x="7568830" y="4052855"/>
            <a:ext cx="1256051" cy="473793"/>
            <a:chOff x="3011408" y="2651036"/>
            <a:chExt cx="1153529" cy="473793"/>
          </a:xfrm>
          <a:solidFill>
            <a:srgbClr val="504EEE"/>
          </a:solidFill>
        </p:grpSpPr>
        <p:sp>
          <p:nvSpPr>
            <p:cNvPr id="19" name="Right Arrow 18">
              <a:extLst>
                <a:ext uri="{FF2B5EF4-FFF2-40B4-BE49-F238E27FC236}">
                  <a16:creationId xmlns:a16="http://schemas.microsoft.com/office/drawing/2014/main" id="{C9B36431-F066-4CC1-D77F-E3C1E22B5853}"/>
                </a:ext>
              </a:extLst>
            </p:cNvPr>
            <p:cNvSpPr/>
            <p:nvPr/>
          </p:nvSpPr>
          <p:spPr>
            <a:xfrm>
              <a:off x="3011408" y="2651036"/>
              <a:ext cx="1153529" cy="473793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ight Arrow 4">
              <a:extLst>
                <a:ext uri="{FF2B5EF4-FFF2-40B4-BE49-F238E27FC236}">
                  <a16:creationId xmlns:a16="http://schemas.microsoft.com/office/drawing/2014/main" id="{3F54D28B-39E5-DF5B-1C35-83CF0E1F1271}"/>
                </a:ext>
              </a:extLst>
            </p:cNvPr>
            <p:cNvSpPr txBox="1"/>
            <p:nvPr/>
          </p:nvSpPr>
          <p:spPr>
            <a:xfrm>
              <a:off x="3011408" y="2745795"/>
              <a:ext cx="1011391" cy="284275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100" kern="120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3C6C8C5-355D-F0F2-D383-1157C161D43F}"/>
              </a:ext>
            </a:extLst>
          </p:cNvPr>
          <p:cNvGrpSpPr/>
          <p:nvPr/>
        </p:nvGrpSpPr>
        <p:grpSpPr>
          <a:xfrm rot="10800000">
            <a:off x="7528983" y="3579062"/>
            <a:ext cx="1256052" cy="473793"/>
            <a:chOff x="3011408" y="2651036"/>
            <a:chExt cx="1153529" cy="473793"/>
          </a:xfrm>
          <a:solidFill>
            <a:srgbClr val="92D050"/>
          </a:solidFill>
        </p:grpSpPr>
        <p:sp>
          <p:nvSpPr>
            <p:cNvPr id="22" name="Right Arrow 21">
              <a:extLst>
                <a:ext uri="{FF2B5EF4-FFF2-40B4-BE49-F238E27FC236}">
                  <a16:creationId xmlns:a16="http://schemas.microsoft.com/office/drawing/2014/main" id="{113A0460-46D4-ED41-468E-DCC78D5379A3}"/>
                </a:ext>
              </a:extLst>
            </p:cNvPr>
            <p:cNvSpPr/>
            <p:nvPr/>
          </p:nvSpPr>
          <p:spPr>
            <a:xfrm>
              <a:off x="3011408" y="2651036"/>
              <a:ext cx="1153529" cy="473793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ight Arrow 4">
              <a:extLst>
                <a:ext uri="{FF2B5EF4-FFF2-40B4-BE49-F238E27FC236}">
                  <a16:creationId xmlns:a16="http://schemas.microsoft.com/office/drawing/2014/main" id="{1788B36E-4D35-2404-572A-C55EE5087930}"/>
                </a:ext>
              </a:extLst>
            </p:cNvPr>
            <p:cNvSpPr txBox="1"/>
            <p:nvPr/>
          </p:nvSpPr>
          <p:spPr>
            <a:xfrm>
              <a:off x="3011408" y="2745795"/>
              <a:ext cx="1011391" cy="284275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100" kern="1200"/>
            </a:p>
          </p:txBody>
        </p:sp>
      </p:grpSp>
      <p:sp>
        <p:nvSpPr>
          <p:cNvPr id="25" name="U-Turn Arrow 24">
            <a:extLst>
              <a:ext uri="{FF2B5EF4-FFF2-40B4-BE49-F238E27FC236}">
                <a16:creationId xmlns:a16="http://schemas.microsoft.com/office/drawing/2014/main" id="{8F4637E9-54F8-FB72-7478-88E54399B05C}"/>
              </a:ext>
            </a:extLst>
          </p:cNvPr>
          <p:cNvSpPr/>
          <p:nvPr/>
        </p:nvSpPr>
        <p:spPr bwMode="auto">
          <a:xfrm rot="10800000">
            <a:off x="1712411" y="4900186"/>
            <a:ext cx="8763000" cy="905593"/>
          </a:xfrm>
          <a:prstGeom prst="uturnArrow">
            <a:avLst>
              <a:gd name="adj1" fmla="val 25000"/>
              <a:gd name="adj2" fmla="val 25000"/>
              <a:gd name="adj3" fmla="val 27766"/>
              <a:gd name="adj4" fmla="val 43750"/>
              <a:gd name="adj5" fmla="val 100000"/>
            </a:avLst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Multiply 25">
            <a:extLst>
              <a:ext uri="{FF2B5EF4-FFF2-40B4-BE49-F238E27FC236}">
                <a16:creationId xmlns:a16="http://schemas.microsoft.com/office/drawing/2014/main" id="{ED7EDA32-ABA3-FCFB-E659-87A4102422E8}"/>
              </a:ext>
            </a:extLst>
          </p:cNvPr>
          <p:cNvSpPr/>
          <p:nvPr/>
        </p:nvSpPr>
        <p:spPr bwMode="auto">
          <a:xfrm>
            <a:off x="5446211" y="5109876"/>
            <a:ext cx="1295400" cy="1264455"/>
          </a:xfrm>
          <a:prstGeom prst="mathMultiply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350DF8-D46E-2E6B-6C63-17180FC1065E}"/>
              </a:ext>
            </a:extLst>
          </p:cNvPr>
          <p:cNvSpPr txBox="1"/>
          <p:nvPr/>
        </p:nvSpPr>
        <p:spPr>
          <a:xfrm>
            <a:off x="5217611" y="6194968"/>
            <a:ext cx="175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2FA</a:t>
            </a:r>
          </a:p>
        </p:txBody>
      </p:sp>
    </p:spTree>
    <p:extLst>
      <p:ext uri="{BB962C8B-B14F-4D97-AF65-F5344CB8AC3E}">
        <p14:creationId xmlns:p14="http://schemas.microsoft.com/office/powerpoint/2010/main" val="3010890474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53F6C7-9691-B2A3-472B-D0CDC4C04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">
            <a:extLst>
              <a:ext uri="{FF2B5EF4-FFF2-40B4-BE49-F238E27FC236}">
                <a16:creationId xmlns:a16="http://schemas.microsoft.com/office/drawing/2014/main" id="{3C0A4F6E-BA69-1ABB-1F63-2491A87949EA}"/>
              </a:ext>
            </a:extLst>
          </p:cNvPr>
          <p:cNvSpPr txBox="1"/>
          <p:nvPr/>
        </p:nvSpPr>
        <p:spPr>
          <a:xfrm>
            <a:off x="6248400" y="6001762"/>
            <a:ext cx="5753100" cy="342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 pitchFamily="2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Figure Caption Goes here (move around as needed)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560786-8B0F-8EB0-0724-4524AF0F1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5715000"/>
            <a:ext cx="798144" cy="914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5E7FA3-5BD9-5DBB-EDFC-45C6159F382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145" r="1"/>
          <a:stretch/>
        </p:blipFill>
        <p:spPr>
          <a:xfrm>
            <a:off x="0" y="304800"/>
            <a:ext cx="123465" cy="933225"/>
          </a:xfrm>
          <a:prstGeom prst="rect">
            <a:avLst/>
          </a:prstGeom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15692D92-0531-8668-0623-2893D5B340FD}"/>
              </a:ext>
            </a:extLst>
          </p:cNvPr>
          <p:cNvSpPr txBox="1"/>
          <p:nvPr/>
        </p:nvSpPr>
        <p:spPr>
          <a:xfrm>
            <a:off x="123465" y="228600"/>
            <a:ext cx="12192000" cy="2355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1" dirty="0">
                <a:solidFill>
                  <a:srgbClr val="000000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Jitter?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Roman"/>
              <a:buChar char="–"/>
              <a:tabLst/>
              <a:defRPr/>
            </a:pPr>
            <a:r>
              <a:rPr lang="en-US" sz="2000" dirty="0">
                <a:solidFill>
                  <a:srgbClr val="000000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Wheels cannot be manufactured perfectly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Roman"/>
              <a:buChar char="–"/>
              <a:tabLst/>
              <a:defRPr/>
            </a:pPr>
            <a:r>
              <a:rPr lang="en-US" sz="2000" dirty="0">
                <a:solidFill>
                  <a:srgbClr val="000000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Spinning with imperfections causes disturbance at the spinning frequency</a:t>
            </a: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Roman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Tiny vibration at the same fr</a:t>
            </a:r>
            <a:r>
              <a:rPr lang="en-US" sz="2000" dirty="0" err="1">
                <a:solidFill>
                  <a:srgbClr val="000000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equency</a:t>
            </a:r>
            <a:r>
              <a:rPr lang="en-US" sz="2000" dirty="0">
                <a:solidFill>
                  <a:srgbClr val="000000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as a structural mode would be amplified</a:t>
            </a: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Roman"/>
              <a:buChar char="–"/>
              <a:tabLst/>
              <a:defRPr/>
            </a:pPr>
            <a:r>
              <a:rPr lang="en-US" sz="2000" dirty="0">
                <a:solidFill>
                  <a:srgbClr val="000000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Vibrations propagate throughout the telescope causing the optics assembly to vibrate as well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2" name="Picture 1" descr="Nancy Grace Roman Space Telescope on X: &quot;CORRECTION: there are six reaction  wheels that will rotate Roman once it's at L2.&quot; / X">
            <a:extLst>
              <a:ext uri="{FF2B5EF4-FFF2-40B4-BE49-F238E27FC236}">
                <a16:creationId xmlns:a16="http://schemas.microsoft.com/office/drawing/2014/main" id="{B8DFEC80-8BB1-4554-DA4C-C738AE09E23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633" t="10667" r="19368" b="14556"/>
          <a:stretch>
            <a:fillRect/>
          </a:stretch>
        </p:blipFill>
        <p:spPr>
          <a:xfrm>
            <a:off x="2847225" y="2593981"/>
            <a:ext cx="6497550" cy="426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011070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7C910A-4817-3433-422E-F720D879A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">
            <a:extLst>
              <a:ext uri="{FF2B5EF4-FFF2-40B4-BE49-F238E27FC236}">
                <a16:creationId xmlns:a16="http://schemas.microsoft.com/office/drawing/2014/main" id="{6D231920-4739-784D-E967-5168EBEFACF9}"/>
              </a:ext>
            </a:extLst>
          </p:cNvPr>
          <p:cNvSpPr txBox="1"/>
          <p:nvPr/>
        </p:nvSpPr>
        <p:spPr>
          <a:xfrm>
            <a:off x="6248400" y="6001762"/>
            <a:ext cx="5753100" cy="342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 pitchFamily="2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Figure Caption Goes here (move around as needed)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540498-AF43-173C-4A76-0D69EDB71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5715000"/>
            <a:ext cx="798144" cy="914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99AC048-84FB-C300-1B38-8A25FA4D716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7000"/>
          </a:blip>
          <a:stretch>
            <a:fillRect/>
          </a:stretch>
        </p:blipFill>
        <p:spPr>
          <a:xfrm>
            <a:off x="10287000" y="3749964"/>
            <a:ext cx="1473200" cy="2628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689F4D-AEE6-50AE-31AA-345FB3DD5B1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6145" r="1"/>
          <a:stretch/>
        </p:blipFill>
        <p:spPr>
          <a:xfrm>
            <a:off x="0" y="304800"/>
            <a:ext cx="123465" cy="933225"/>
          </a:xfrm>
          <a:prstGeom prst="rect">
            <a:avLst/>
          </a:prstGeom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0D12E9ED-3A47-EF97-A5B3-856929A4FEC3}"/>
              </a:ext>
            </a:extLst>
          </p:cNvPr>
          <p:cNvSpPr txBox="1"/>
          <p:nvPr/>
        </p:nvSpPr>
        <p:spPr>
          <a:xfrm>
            <a:off x="304800" y="1044594"/>
            <a:ext cx="11754572" cy="4202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Old script shortfalls</a:t>
            </a: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Roman"/>
              <a:buChar char="–"/>
              <a:tabLst/>
              <a:defRPr/>
            </a:pPr>
            <a:r>
              <a:rPr lang="en-US" sz="2000" dirty="0">
                <a:solidFill>
                  <a:srgbClr val="000000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New analysis requires copying the MATLAB file which is not a safe way to distribute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Roman"/>
              <a:buChar char="–"/>
              <a:tabLst/>
              <a:defRPr/>
            </a:pPr>
            <a:r>
              <a:rPr lang="en-US" sz="2000" dirty="0">
                <a:solidFill>
                  <a:srgbClr val="000000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Different initial condition needed to be manually changed inside the script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Roman"/>
              <a:buChar char="–"/>
              <a:tabLst/>
              <a:defRPr/>
            </a:pPr>
            <a:r>
              <a:rPr lang="en-US" sz="2000" dirty="0">
                <a:solidFill>
                  <a:srgbClr val="000000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MATLAB error messages were not helpful, they were not specific to our analysis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Improvements</a:t>
            </a: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Roman"/>
              <a:buChar char="–"/>
              <a:tabLst/>
              <a:defRPr/>
            </a:pPr>
            <a:r>
              <a:rPr lang="en-US" sz="2000" dirty="0">
                <a:solidFill>
                  <a:srgbClr val="000000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Standalone MATLAB function that doesn’t require copying and editing</a:t>
            </a: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Roman"/>
              <a:buChar char="–"/>
              <a:tabLst/>
              <a:defRPr/>
            </a:pPr>
            <a:r>
              <a:rPr lang="en-US" sz="2000" dirty="0">
                <a:solidFill>
                  <a:srgbClr val="000000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Inputs are defined when calling the function, no more editing the body of the script </a:t>
            </a: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Roman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Custom helper function and error message for easier debugging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72C2ACAC-BBE1-928E-47A8-331148DD33FD}"/>
              </a:ext>
            </a:extLst>
          </p:cNvPr>
          <p:cNvSpPr txBox="1">
            <a:spLocks/>
          </p:cNvSpPr>
          <p:nvPr/>
        </p:nvSpPr>
        <p:spPr bwMode="auto">
          <a:xfrm>
            <a:off x="3152192" y="355849"/>
            <a:ext cx="5887616" cy="519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+mj-lt"/>
                <a:ea typeface="ＭＳ Ｐゴシック" charset="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Jitter After Pt. 1</a:t>
            </a:r>
          </a:p>
        </p:txBody>
      </p:sp>
    </p:spTree>
    <p:extLst>
      <p:ext uri="{BB962C8B-B14F-4D97-AF65-F5344CB8AC3E}">
        <p14:creationId xmlns:p14="http://schemas.microsoft.com/office/powerpoint/2010/main" val="2809654487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D8F033-F596-4D6C-A49C-46B8FD579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">
            <a:extLst>
              <a:ext uri="{FF2B5EF4-FFF2-40B4-BE49-F238E27FC236}">
                <a16:creationId xmlns:a16="http://schemas.microsoft.com/office/drawing/2014/main" id="{9A8BB0CE-1249-EF29-13E4-4795B85C5F0A}"/>
              </a:ext>
            </a:extLst>
          </p:cNvPr>
          <p:cNvSpPr txBox="1"/>
          <p:nvPr/>
        </p:nvSpPr>
        <p:spPr>
          <a:xfrm>
            <a:off x="6248400" y="6001762"/>
            <a:ext cx="5753100" cy="342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 pitchFamily="2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Figure Caption Goes here (move around as needed)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B9F25A-766E-CD20-5193-3D97E467C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5715000"/>
            <a:ext cx="798144" cy="914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2E94C3A-EDB1-CBFE-4EA3-1CC16AE1EF4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7000"/>
          </a:blip>
          <a:stretch>
            <a:fillRect/>
          </a:stretch>
        </p:blipFill>
        <p:spPr>
          <a:xfrm>
            <a:off x="10287000" y="3749964"/>
            <a:ext cx="1473200" cy="2628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340556-8E95-1386-1806-E24202E312D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6145" r="1"/>
          <a:stretch/>
        </p:blipFill>
        <p:spPr>
          <a:xfrm>
            <a:off x="0" y="304800"/>
            <a:ext cx="123465" cy="9332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1">
                <a:extLst>
                  <a:ext uri="{FF2B5EF4-FFF2-40B4-BE49-F238E27FC236}">
                    <a16:creationId xmlns:a16="http://schemas.microsoft.com/office/drawing/2014/main" id="{64834A3F-5451-5F74-3813-6F1C2D3335B2}"/>
                  </a:ext>
                </a:extLst>
              </p:cNvPr>
              <p:cNvSpPr txBox="1"/>
              <p:nvPr/>
            </p:nvSpPr>
            <p:spPr>
              <a:xfrm>
                <a:off x="304800" y="1091961"/>
                <a:ext cx="11696700" cy="4664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marR="0" lvl="0" indent="-34290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Old script</a:t>
                </a:r>
                <a:r>
                  <a:rPr lang="en-US" sz="2000" b="1" dirty="0">
                    <a:solidFill>
                      <a:srgbClr val="000000"/>
                    </a:solidFill>
                    <a:latin typeface="Helvetica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analysis flow</a:t>
                </a:r>
                <a:endPara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 marL="800100" marR="0" lvl="1" indent="-34290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Times Roman"/>
                  <a:buChar char="–"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Sample wheel </a:t>
                </a:r>
                <a:r>
                  <a:rPr kumimoji="0" lang="en-US" sz="2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spee</a:t>
                </a:r>
                <a:r>
                  <a:rPr lang="en-US" sz="2000" dirty="0">
                    <a:solidFill>
                      <a:srgbClr val="000000"/>
                    </a:solidFill>
                    <a:latin typeface="Helvetica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ds first, find disturbance frequency of that wheel speed</a:t>
                </a:r>
              </a:p>
              <a:p>
                <a:pPr marL="800100" marR="0" lvl="1" indent="-34290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Times Roman"/>
                  <a:buChar char="–"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Calculate structural </a:t>
                </a:r>
                <a:r>
                  <a:rPr lang="en-US" sz="2000" dirty="0">
                    <a:solidFill>
                      <a:srgbClr val="000000"/>
                    </a:solidFill>
                    <a:latin typeface="Helvetica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frequency response at each disturbance frequency</a:t>
                </a: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 marL="800100" marR="0" lvl="1" indent="-34290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Times Roman"/>
                  <a:buChar char="–"/>
                  <a:tabLst/>
                  <a:defRPr/>
                </a:pPr>
                <a:r>
                  <a:rPr lang="en-US" sz="2000" dirty="0">
                    <a:solidFill>
                      <a:srgbClr val="000000"/>
                    </a:solidFill>
                    <a:latin typeface="Helvetica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For each frequency response we need to do matrix solve which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noProof="0" dirty="0">
                    <a:solidFill>
                      <a:srgbClr val="000000"/>
                    </a:solidFill>
                    <a:latin typeface="Helvetica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.</a:t>
                </a: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2000" b="1" dirty="0">
                    <a:solidFill>
                      <a:srgbClr val="000000"/>
                    </a:solidFill>
                    <a:latin typeface="Helvetica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New script analysis flow</a:t>
                </a:r>
                <a:endPara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 marL="800100" marR="0" lvl="1" indent="-34290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Times Roman"/>
                  <a:buChar char="–"/>
                  <a:tabLst/>
                  <a:defRPr/>
                </a:pPr>
                <a:r>
                  <a:rPr lang="en-US" sz="2000" dirty="0">
                    <a:solidFill>
                      <a:srgbClr val="000000"/>
                    </a:solidFill>
                    <a:latin typeface="Helvetica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Sample frequencies first and precompute the structural frequency response</a:t>
                </a: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 marL="800100" marR="0" lvl="1" indent="-34290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Times Roman"/>
                  <a:buChar char="–"/>
                  <a:tabLst/>
                  <a:defRPr/>
                </a:pPr>
                <a:r>
                  <a:rPr lang="en-US" sz="2000" dirty="0">
                    <a:solidFill>
                      <a:srgbClr val="000000"/>
                    </a:solidFill>
                    <a:latin typeface="Helvetica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Sample the wheel speeds and find disturbance frequency</a:t>
                </a: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 marL="800100" marR="0" lvl="1" indent="-34290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Times Roman"/>
                  <a:buChar char="–"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Frequency response can be calculated </a:t>
                </a:r>
                <a:r>
                  <a:rPr lang="en-US" sz="2000" dirty="0">
                    <a:solidFill>
                      <a:srgbClr val="000000"/>
                    </a:solidFill>
                    <a:latin typeface="Helvetica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using interpolation of sampled frequency </a:t>
                </a:r>
              </a:p>
              <a:p>
                <a:pPr marL="800100" marR="0" lvl="1" indent="-34290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Times Roman"/>
                  <a:buChar char="–"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2x speed up compared to </a:t>
                </a:r>
                <a:r>
                  <a:rPr lang="en-US" sz="2000" dirty="0">
                    <a:solidFill>
                      <a:srgbClr val="000000"/>
                    </a:solidFill>
                    <a:latin typeface="Helvetica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old method, ~1% error which is acceptable</a:t>
                </a: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mc:Choice>
        <mc:Fallback>
          <p:sp>
            <p:nvSpPr>
              <p:cNvPr id="8" name="TextBox 1">
                <a:extLst>
                  <a:ext uri="{FF2B5EF4-FFF2-40B4-BE49-F238E27FC236}">
                    <a16:creationId xmlns:a16="http://schemas.microsoft.com/office/drawing/2014/main" id="{64834A3F-5451-5F74-3813-6F1C2D333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091961"/>
                <a:ext cx="11696700" cy="4664354"/>
              </a:xfrm>
              <a:prstGeom prst="rect">
                <a:avLst/>
              </a:prstGeom>
              <a:blipFill>
                <a:blip r:embed="rId6"/>
                <a:stretch>
                  <a:fillRect l="-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">
            <a:extLst>
              <a:ext uri="{FF2B5EF4-FFF2-40B4-BE49-F238E27FC236}">
                <a16:creationId xmlns:a16="http://schemas.microsoft.com/office/drawing/2014/main" id="{F9C6CB1B-3CC7-9C08-3529-FAFFA8E4AD10}"/>
              </a:ext>
            </a:extLst>
          </p:cNvPr>
          <p:cNvSpPr txBox="1">
            <a:spLocks/>
          </p:cNvSpPr>
          <p:nvPr/>
        </p:nvSpPr>
        <p:spPr bwMode="auto">
          <a:xfrm>
            <a:off x="3152192" y="355849"/>
            <a:ext cx="5887616" cy="519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+mj-lt"/>
                <a:ea typeface="ＭＳ Ｐゴシック" charset="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Jitter After Pt. 2</a:t>
            </a:r>
          </a:p>
        </p:txBody>
      </p:sp>
    </p:spTree>
    <p:extLst>
      <p:ext uri="{BB962C8B-B14F-4D97-AF65-F5344CB8AC3E}">
        <p14:creationId xmlns:p14="http://schemas.microsoft.com/office/powerpoint/2010/main" val="305100536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0BA4B1-5442-B49E-E315-D795E3816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5BBD8B-3381-EB1F-E9A2-9FA04F86B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43" y="96555"/>
            <a:ext cx="10509276" cy="66648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CE5642-2793-0FE4-C92B-7F9C1F9DA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5715000"/>
            <a:ext cx="798144" cy="914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512E94-91EA-FE23-1F0E-08613BFC841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6145" r="1"/>
          <a:stretch/>
        </p:blipFill>
        <p:spPr>
          <a:xfrm>
            <a:off x="0" y="304800"/>
            <a:ext cx="123465" cy="93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412828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7221C6-00D4-9B3B-7893-270520A614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07FF7D-5A57-4FBC-C497-3A3BBD0621A5}"/>
              </a:ext>
            </a:extLst>
          </p:cNvPr>
          <p:cNvSpPr txBox="1"/>
          <p:nvPr/>
        </p:nvSpPr>
        <p:spPr>
          <a:xfrm>
            <a:off x="228600" y="1905000"/>
            <a:ext cx="11734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THANK YOU FOR LISTENING!</a:t>
            </a:r>
          </a:p>
        </p:txBody>
      </p:sp>
    </p:spTree>
    <p:extLst>
      <p:ext uri="{BB962C8B-B14F-4D97-AF65-F5344CB8AC3E}">
        <p14:creationId xmlns:p14="http://schemas.microsoft.com/office/powerpoint/2010/main" val="218273627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fjs_black_arial">
  <a:themeElements>
    <a:clrScheme name="fjs_black_arial 8">
      <a:dk1>
        <a:srgbClr val="808080"/>
      </a:dk1>
      <a:lt1>
        <a:srgbClr val="FFFFFF"/>
      </a:lt1>
      <a:dk2>
        <a:srgbClr val="000000"/>
      </a:dk2>
      <a:lt2>
        <a:srgbClr val="FFFF00"/>
      </a:lt2>
      <a:accent1>
        <a:srgbClr val="FF0000"/>
      </a:accent1>
      <a:accent2>
        <a:srgbClr val="FFFF00"/>
      </a:accent2>
      <a:accent3>
        <a:srgbClr val="AAAAAA"/>
      </a:accent3>
      <a:accent4>
        <a:srgbClr val="DADADA"/>
      </a:accent4>
      <a:accent5>
        <a:srgbClr val="FFAAAA"/>
      </a:accent5>
      <a:accent6>
        <a:srgbClr val="E7E700"/>
      </a:accent6>
      <a:hlink>
        <a:srgbClr val="CCCCFF"/>
      </a:hlink>
      <a:folHlink>
        <a:srgbClr val="B2B2B2"/>
      </a:folHlink>
    </a:clrScheme>
    <a:fontScheme name="fjs_black_arial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rial" pitchFamily="34" charset="0"/>
          </a:defRPr>
        </a:defPPr>
      </a:lstStyle>
    </a:lnDef>
  </a:objectDefaults>
  <a:extraClrSchemeLst>
    <a:extraClrScheme>
      <a:clrScheme name="fjs_black_arial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js_black_arial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js_black_arial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js_black_arial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js_black_aria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js_black_aria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js_black_aria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js_black_arial 8">
        <a:dk1>
          <a:srgbClr val="808080"/>
        </a:dk1>
        <a:lt1>
          <a:srgbClr val="FFFFFF"/>
        </a:lt1>
        <a:dk2>
          <a:srgbClr val="000000"/>
        </a:dk2>
        <a:lt2>
          <a:srgbClr val="FFFF00"/>
        </a:lt2>
        <a:accent1>
          <a:srgbClr val="FF0000"/>
        </a:accent1>
        <a:accent2>
          <a:srgbClr val="FFFF00"/>
        </a:accent2>
        <a:accent3>
          <a:srgbClr val="AAAAAA"/>
        </a:accent3>
        <a:accent4>
          <a:srgbClr val="DADADA"/>
        </a:accent4>
        <a:accent5>
          <a:srgbClr val="FFAAAA"/>
        </a:accent5>
        <a:accent6>
          <a:srgbClr val="E7E700"/>
        </a:accent6>
        <a:hlink>
          <a:srgbClr val="CCCC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fjs_black_arial</Template>
  <TotalTime>117866</TotalTime>
  <Words>499</Words>
  <Application>Microsoft Macintosh PowerPoint</Application>
  <PresentationFormat>Widescreen</PresentationFormat>
  <Paragraphs>67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Times Roman</vt:lpstr>
      <vt:lpstr>Cambria Math</vt:lpstr>
      <vt:lpstr>Times New Roman</vt:lpstr>
      <vt:lpstr>Calibri Light</vt:lpstr>
      <vt:lpstr>Helvetica</vt:lpstr>
      <vt:lpstr>Calibri</vt:lpstr>
      <vt:lpstr>Arial</vt:lpstr>
      <vt:lpstr>fjs_black_arial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Space Telescope Science Institute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Expanding your View with the Nancy Grace Roman Space Telescope</dc:title>
  <dc:subject/>
  <dc:creator>Roman Space Telescope Mission Office</dc:creator>
  <cp:keywords/>
  <dc:description/>
  <cp:lastModifiedBy>Chen, Eric</cp:lastModifiedBy>
  <cp:revision>1528</cp:revision>
  <cp:lastPrinted>2021-04-20T14:41:17Z</cp:lastPrinted>
  <dcterms:created xsi:type="dcterms:W3CDTF">2010-01-03T02:07:43Z</dcterms:created>
  <dcterms:modified xsi:type="dcterms:W3CDTF">2026-09-17T23:40:16Z</dcterms:modified>
  <cp:category/>
</cp:coreProperties>
</file>